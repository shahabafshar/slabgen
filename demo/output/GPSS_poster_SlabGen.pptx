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29260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43891200" cy="762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3383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5000" b="1" i="0">
                <a:solidFill>
                  <a:srgbClr val="FFFFFF"/>
                </a:solidFill>
                <a:latin typeface="Calibri"/>
              </a:defRPr>
            </a:pPr>
            <a:r>
              <a:t>SlabGen: An Interactive Platform for Automated</a:t>
            </a:r>
          </a:p>
          <a:p>
            <a:pPr algn="l">
              <a:spcAft>
                <a:spcPts val="0"/>
              </a:spcAft>
              <a:defRPr sz="5000" b="1" i="0">
                <a:solidFill>
                  <a:srgbClr val="FFFFFF"/>
                </a:solidFill>
                <a:latin typeface="Calibri"/>
              </a:defRPr>
            </a:pPr>
            <a:r>
              <a:t>Surface Slab Generation, Screening, and DFT Workflow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383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F1BE48"/>
                </a:solidFill>
                <a:latin typeface="Calibri"/>
              </a:defRPr>
            </a:pPr>
            <a:r>
              <a:t>Shahab Afshar  and  Zeinab Hajali Fard</a:t>
            </a:r>
          </a:p>
          <a:p>
            <a:pPr algn="l">
              <a:spcAft>
                <a:spcPts val="0"/>
              </a:spcAft>
              <a:defRPr sz="2400" b="0" i="0">
                <a:solidFill>
                  <a:srgbClr val="FFDDDD"/>
                </a:solidFill>
                <a:latin typeface="Calibri"/>
              </a:defRPr>
            </a:pPr>
            <a:r>
              <a:t>Iowa State University of Science and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0" y="320040"/>
            <a:ext cx="5029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su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039" y="457200"/>
            <a:ext cx="2786321" cy="1920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3002280"/>
            <a:ext cx="43891200" cy="29001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13929360" cy="6583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349300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1315212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Motivation</a:t>
            </a:r>
          </a:p>
          <a:p>
            <a:pPr algn="l">
              <a:spcAft>
                <a:spcPts val="5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Surface properties govern catalytic activity, corrosion resistance, and thin-film growth</a:t>
            </a:r>
          </a:p>
          <a:p>
            <a:pPr algn="l">
              <a:spcAft>
                <a:spcPts val="5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DFT slab calculations require careful setup: proper terminations, vacuum, and dipole corrections</a:t>
            </a:r>
          </a:p>
          <a:p>
            <a:pPr algn="l">
              <a:spcAft>
                <a:spcPts val="5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Manual slab construction is tedious and error-prone -- systematic screening of orientations is impractical by hand</a:t>
            </a:r>
          </a:p>
          <a:p>
            <a:pPr algn="l">
              <a:spcAft>
                <a:spcPts val="5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No existing tool integrates structure retrieval, generation, screening, and DFT prep in one interface</a:t>
            </a:r>
          </a:p>
          <a:p>
            <a:pPr algn="l">
              <a:spcAft>
                <a:spcPts val="600"/>
              </a:spcAft>
              <a:defRPr sz="6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2400" b="1" i="0">
                <a:solidFill>
                  <a:srgbClr val="C8102E"/>
                </a:solidFill>
                <a:latin typeface="Calibri"/>
              </a:defRPr>
            </a:pPr>
            <a:r>
              <a:t>SlabGen automates the entire pipeline from bulk crystal to DFT-ready slab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0241280"/>
            <a:ext cx="13929360" cy="9326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1035100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0378440"/>
            <a:ext cx="13152120" cy="905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Architecture &amp; Workflow</a:t>
            </a:r>
          </a:p>
          <a:p>
            <a:pPr algn="l">
              <a:spcAft>
                <a:spcPts val="1400"/>
              </a:spcAft>
              <a:defRPr sz="2100" b="1" i="0">
                <a:solidFill>
                  <a:srgbClr val="333333"/>
                </a:solidFill>
                <a:latin typeface="Calibri"/>
              </a:defRPr>
            </a:pPr>
            <a:r>
              <a:t>Python  +  pymatgen  +  PySide6 (Qt6)  +  matplotlib</a:t>
            </a:r>
          </a:p>
          <a:p>
            <a:pPr algn="l">
              <a:spcAft>
                <a:spcPts val="7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1.  Search:  Query Materials Project by formula or load POSCAR/CIF</a:t>
            </a:r>
          </a:p>
          <a:p>
            <a:pPr algn="l">
              <a:spcAft>
                <a:spcPts val="7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2.  Configure:  Set Miller indices (h,k,l), vacuum thickness, z-repetitions</a:t>
            </a:r>
          </a:p>
          <a:p>
            <a:pPr algn="l">
              <a:spcAft>
                <a:spcPts val="7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3.  Generate:  Create slabs with all unique terminations</a:t>
            </a:r>
          </a:p>
          <a:p>
            <a:pPr algn="l">
              <a:spcAft>
                <a:spcPts val="7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4.  Screen:  Batch-explore symmetrically distinct surfaces</a:t>
            </a:r>
          </a:p>
          <a:p>
            <a:pPr algn="l">
              <a:spcAft>
                <a:spcPts val="7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5.  Export:  POSCAR files + complete VASP input sets</a:t>
            </a:r>
          </a:p>
          <a:p>
            <a:pPr algn="l">
              <a:spcAft>
                <a:spcPts val="1000"/>
              </a:spcAft>
              <a:defRPr sz="6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400" b="1" i="0">
                <a:solidFill>
                  <a:srgbClr val="7C0A1E"/>
                </a:solidFill>
                <a:latin typeface="Calibri"/>
              </a:defRPr>
            </a:pPr>
            <a:r>
              <a:t>Key Algorithm: oriented_slab_replication</a:t>
            </a:r>
          </a:p>
          <a:p>
            <a:pPr algn="l">
              <a:spcAft>
                <a:spcPts val="4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Two-stage approach avoids atom-stretching artifacts:</a:t>
            </a:r>
          </a:p>
          <a:p>
            <a:pPr algn="l">
              <a:spcAft>
                <a:spcPts val="20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(1) Orient bulk so target (hkl) aligns with z-axis, replicate</a:t>
            </a:r>
          </a:p>
          <a:p>
            <a:pPr algn="l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(2) Apply SlabGenerator with (001) for vacuum and terminations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842480"/>
            <a:ext cx="13929360" cy="1202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1995220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9979640"/>
            <a:ext cx="13152120" cy="117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Key Features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Materials Project API integration (search by formula)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Interactive 3D structure viewer (Jmol color scheme)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Batch surface screening with symmetry analysis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Auto dipole correction (LDIPOL, IDIPOL) for slab DFT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Selective dynamics (freeze bottom layers)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CSV export, batch POSCAR export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SLURM job script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980920" y="3383280"/>
            <a:ext cx="13929360" cy="822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090648" y="349300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438120" y="3520440"/>
            <a:ext cx="13152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1. Structure Retrieval</a:t>
            </a:r>
          </a:p>
          <a:p>
            <a:pPr algn="l">
              <a:spcAft>
                <a:spcPts val="0"/>
              </a:spcAft>
              <a:defRPr sz="1900" b="0" i="0">
                <a:solidFill>
                  <a:srgbClr val="666666"/>
                </a:solidFill>
                <a:latin typeface="Calibri"/>
              </a:defRPr>
            </a:pPr>
            <a:r>
              <a:t>Search Materials Project for Mo₂C, select ground-state mp-1552 (Pbcn, orthorhombic, 12 atoms).</a:t>
            </a:r>
          </a:p>
        </p:txBody>
      </p:sp>
      <p:pic>
        <p:nvPicPr>
          <p:cNvPr id="21" name="Picture 20" descr="04_structure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4223" y="5394960"/>
            <a:ext cx="9262753" cy="59436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4980920" y="11887200"/>
            <a:ext cx="13929360" cy="822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090648" y="1199692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438120" y="12024360"/>
            <a:ext cx="13152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2. Slab Generation</a:t>
            </a:r>
          </a:p>
          <a:p>
            <a:pPr algn="l">
              <a:spcAft>
                <a:spcPts val="0"/>
              </a:spcAft>
              <a:defRPr sz="1900" b="0" i="0">
                <a:solidFill>
                  <a:srgbClr val="666666"/>
                </a:solidFill>
                <a:latin typeface="Calibri"/>
              </a:defRPr>
            </a:pPr>
            <a:r>
              <a:t>Mo₂C (1,1,1) surface: 6 unique terminations, 36 atoms each, 49.20 Å² surface area, 15 Å vacuum.</a:t>
            </a:r>
          </a:p>
        </p:txBody>
      </p:sp>
      <p:pic>
        <p:nvPicPr>
          <p:cNvPr id="25" name="Picture 24" descr="07_slab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4223" y="13898880"/>
            <a:ext cx="9262753" cy="59436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4980920" y="20391120"/>
            <a:ext cx="13929360" cy="6217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090648" y="2050084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438120" y="20528280"/>
            <a:ext cx="13152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3. Surface Screening</a:t>
            </a:r>
          </a:p>
          <a:p>
            <a:pPr algn="l">
              <a:spcAft>
                <a:spcPts val="0"/>
              </a:spcAft>
              <a:defRPr sz="1900" b="0" i="0">
                <a:solidFill>
                  <a:srgbClr val="666666"/>
                </a:solidFill>
                <a:latin typeface="Calibri"/>
              </a:defRPr>
            </a:pPr>
            <a:r>
              <a:t>20 terminations across 7 Mo₂C surfaces (max Miller index 1). Color-coded symmetry, sortable table, CSV export.</a:t>
            </a:r>
          </a:p>
        </p:txBody>
      </p:sp>
      <p:pic>
        <p:nvPicPr>
          <p:cNvPr id="29" name="Picture 28" descr="09_screening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96660" y="22402800"/>
            <a:ext cx="5897880" cy="393192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4980920" y="26883360"/>
            <a:ext cx="139293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090648" y="2699308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438120" y="27020520"/>
            <a:ext cx="13152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4. DFT Input Generation</a:t>
            </a:r>
          </a:p>
          <a:p>
            <a:pPr algn="l">
              <a:spcAft>
                <a:spcPts val="0"/>
              </a:spcAft>
              <a:defRPr sz="1900" b="0" i="0">
                <a:solidFill>
                  <a:srgbClr val="666666"/>
                </a:solidFill>
                <a:latin typeface="Calibri"/>
              </a:defRPr>
            </a:pPr>
            <a:r>
              <a:t>VASP INCAR with auto dipole correction, KPOINTS (k_z=1 for slab), POSCAR, SLURM script. Live preview.</a:t>
            </a:r>
          </a:p>
        </p:txBody>
      </p:sp>
      <p:pic>
        <p:nvPicPr>
          <p:cNvPr id="33" name="Picture 32" descr="10_dft_dia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63078" y="28895040"/>
            <a:ext cx="3165043" cy="269748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9321760" y="3383280"/>
            <a:ext cx="139293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431488" y="349300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78960" y="3520440"/>
            <a:ext cx="13152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Case Study: Mo₂C Surfaces</a:t>
            </a:r>
          </a:p>
          <a:p>
            <a:pPr algn="l">
              <a:spcAft>
                <a:spcPts val="12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Molybdenum carbide is a promising non-precious-metal catalyst for hydrogen evolution (HER), CO₂ reduction, and Fischer-Tropsch synthesis. Understanding surface terminations is critical for rational catalyst design.</a:t>
            </a:r>
          </a:p>
          <a:p>
            <a:pPr algn="l">
              <a:spcAft>
                <a:spcPts val="600"/>
              </a:spcAft>
              <a:defRPr sz="2400" b="1" i="0">
                <a:solidFill>
                  <a:srgbClr val="7C0A1E"/>
                </a:solidFill>
                <a:latin typeface="Calibri"/>
              </a:defRPr>
            </a:pPr>
            <a:r>
              <a:t>Screening Results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Structure: mp-1552 (Pbcn, orthorhombic, 12 atoms)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20 unique terminations across 7 surface orientations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8 symmetric + 12 asymmetric terminations identified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Surface areas range: 24.63 - 49.20 Å²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321760" y="8686800"/>
            <a:ext cx="13929360" cy="960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431488" y="879652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78960" y="8823960"/>
            <a:ext cx="1315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Mo₂C Surface Gallery</a:t>
            </a:r>
          </a:p>
          <a:p>
            <a:pPr algn="l">
              <a:spcAft>
                <a:spcPts val="0"/>
              </a:spcAft>
              <a:defRPr sz="1900" b="0" i="0">
                <a:solidFill>
                  <a:srgbClr val="666666"/>
                </a:solidFill>
                <a:latin typeface="Calibri"/>
              </a:defRPr>
            </a:pPr>
            <a:r>
              <a:t>3D visualization of four representative Mo₂C surfaces generated by SlabGen.</a:t>
            </a:r>
          </a:p>
        </p:txBody>
      </p:sp>
      <p:pic>
        <p:nvPicPr>
          <p:cNvPr id="40" name="Picture 39" descr="03_surface_scree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33873" y="10332720"/>
            <a:ext cx="7505134" cy="768096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29321760" y="18562320"/>
            <a:ext cx="139293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431488" y="18672048"/>
            <a:ext cx="128016" cy="9144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78960" y="18699480"/>
            <a:ext cx="13152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7C0A1E"/>
                </a:solidFill>
                <a:latin typeface="Calibri"/>
              </a:defRPr>
            </a:pPr>
            <a:r>
              <a:t>Screening Summary</a:t>
            </a:r>
          </a:p>
          <a:p>
            <a:pPr algn="l">
              <a:spcAft>
                <a:spcPts val="600"/>
              </a:spcAft>
              <a:defRPr sz="2200" b="1" i="0">
                <a:solidFill>
                  <a:srgbClr val="333333"/>
                </a:solidFill>
                <a:latin typeface="Consolas"/>
              </a:defRPr>
            </a:pPr>
            <a:r>
              <a:t>Surface   Terms   Area(Å²)  Symmetric</a:t>
            </a:r>
          </a:p>
          <a:p>
            <a:pPr algn="l">
              <a:spcAft>
                <a:spcPts val="200"/>
              </a:spcAft>
              <a:defRPr sz="2000" b="0" i="0">
                <a:solidFill>
                  <a:srgbClr val="333333"/>
                </a:solidFill>
                <a:latin typeface="Consolas"/>
              </a:defRPr>
            </a:pPr>
            <a:r>
              <a:t>(0,0,1)   2       24.63     2 / 2</a:t>
            </a:r>
          </a:p>
          <a:p>
            <a:pPr algn="l">
              <a:spcAft>
                <a:spcPts val="200"/>
              </a:spcAft>
              <a:defRPr sz="2000" b="0" i="0">
                <a:solidFill>
                  <a:srgbClr val="333333"/>
                </a:solidFill>
                <a:latin typeface="Consolas"/>
              </a:defRPr>
            </a:pPr>
            <a:r>
              <a:t>(0,1,0)   2       28.62     1 / 2</a:t>
            </a:r>
          </a:p>
          <a:p>
            <a:pPr algn="l">
              <a:spcAft>
                <a:spcPts val="200"/>
              </a:spcAft>
              <a:defRPr sz="2000" b="0" i="0">
                <a:solidFill>
                  <a:srgbClr val="333333"/>
                </a:solidFill>
                <a:latin typeface="Consolas"/>
              </a:defRPr>
            </a:pPr>
            <a:r>
              <a:t>(1,0,0)   1       31.53     0 / 1</a:t>
            </a:r>
          </a:p>
          <a:p>
            <a:pPr algn="l">
              <a:spcAft>
                <a:spcPts val="200"/>
              </a:spcAft>
              <a:defRPr sz="2000" b="0" i="0">
                <a:solidFill>
                  <a:srgbClr val="333333"/>
                </a:solidFill>
                <a:latin typeface="Consolas"/>
              </a:defRPr>
            </a:pPr>
            <a:r>
              <a:t>(0,1,1)   4       37.76     2 / 4</a:t>
            </a:r>
          </a:p>
          <a:p>
            <a:pPr algn="l">
              <a:spcAft>
                <a:spcPts val="200"/>
              </a:spcAft>
              <a:defRPr sz="2000" b="0" i="0">
                <a:solidFill>
                  <a:srgbClr val="333333"/>
                </a:solidFill>
                <a:latin typeface="Consolas"/>
              </a:defRPr>
            </a:pPr>
            <a:r>
              <a:t>(1,0,1)   3       40.01     2 / 3</a:t>
            </a:r>
          </a:p>
          <a:p>
            <a:pPr algn="l">
              <a:spcAft>
                <a:spcPts val="200"/>
              </a:spcAft>
              <a:defRPr sz="2000" b="0" i="0">
                <a:solidFill>
                  <a:srgbClr val="333333"/>
                </a:solidFill>
                <a:latin typeface="Consolas"/>
              </a:defRPr>
            </a:pPr>
            <a:r>
              <a:t>(1,1,0)   2       42.58     1 / 2</a:t>
            </a:r>
          </a:p>
          <a:p>
            <a:pPr algn="l">
              <a:spcAft>
                <a:spcPts val="200"/>
              </a:spcAft>
              <a:defRPr sz="2000" b="0" i="0">
                <a:solidFill>
                  <a:srgbClr val="333333"/>
                </a:solidFill>
                <a:latin typeface="Consolas"/>
              </a:defRPr>
            </a:pPr>
            <a:r>
              <a:t>(1,1,1)   6       49.20     2 / 6</a:t>
            </a:r>
          </a:p>
          <a:p>
            <a:pPr algn="l">
              <a:spcAft>
                <a:spcPts val="400"/>
              </a:spcAft>
              <a:defRPr sz="6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900" b="1" i="0">
                <a:solidFill>
                  <a:srgbClr val="C8102E"/>
                </a:solidFill>
                <a:latin typeface="Calibri"/>
              </a:defRPr>
            </a:pPr>
            <a:r>
              <a:t>Total: 20 terminations | 10 symmetric, 10 asymmetric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321760" y="23865840"/>
            <a:ext cx="13929360" cy="800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431488" y="23975568"/>
            <a:ext cx="128016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778960" y="24003000"/>
            <a:ext cx="13152120" cy="772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200" b="1" i="0">
                <a:solidFill>
                  <a:srgbClr val="C8102E"/>
                </a:solidFill>
                <a:latin typeface="Calibri"/>
              </a:defRPr>
            </a:pPr>
            <a:r>
              <a:t>Conclusions &amp; Future Work</a:t>
            </a:r>
          </a:p>
          <a:p>
            <a:pPr algn="l">
              <a:spcAft>
                <a:spcPts val="5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SlabGen provides an integrated workflow from bulk crystal to DFT-ready slab models</a:t>
            </a:r>
          </a:p>
          <a:p>
            <a:pPr algn="l">
              <a:spcAft>
                <a:spcPts val="5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Systematic screening enables rapid surface exploration with symmetry classification</a:t>
            </a:r>
          </a:p>
          <a:p>
            <a:pPr algn="l">
              <a:spcAft>
                <a:spcPts val="5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Mo₂C case study: 20 terminations across 7 surfaces characterized in seconds</a:t>
            </a:r>
          </a:p>
          <a:p>
            <a:pPr algn="l">
              <a:spcAft>
                <a:spcPts val="800"/>
              </a:spcAft>
              <a:defRPr sz="6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400" b="1" i="0">
                <a:solidFill>
                  <a:srgbClr val="7C0A1E"/>
                </a:solidFill>
                <a:latin typeface="Calibri"/>
              </a:defRPr>
            </a:pPr>
            <a:r>
              <a:t>Future Directions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DFT surface energy calculations and Wulff construction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Automated convergence testing workflows</a:t>
            </a:r>
          </a:p>
          <a:p>
            <a:pPr algn="l">
              <a:spcAft>
                <a:spcPts val="5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Adsorbate placement on generated surfaces</a:t>
            </a:r>
          </a:p>
          <a:p>
            <a:pPr algn="l">
              <a:spcAft>
                <a:spcPts val="1000"/>
              </a:spcAft>
              <a:defRPr sz="6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200" b="1" i="0">
                <a:solidFill>
                  <a:srgbClr val="333333"/>
                </a:solidFill>
                <a:latin typeface="Calibri"/>
              </a:defRPr>
            </a:pPr>
            <a:r>
              <a:t>References</a:t>
            </a:r>
          </a:p>
          <a:p>
            <a:pPr algn="l">
              <a:spcAft>
                <a:spcPts val="200"/>
              </a:spcAft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[1] Ong et al., Comp. Mater. Sci. 68, 314 (2013) - pymatgen</a:t>
            </a:r>
          </a:p>
          <a:p>
            <a:pPr algn="l">
              <a:spcAft>
                <a:spcPts val="200"/>
              </a:spcAft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[2] Jain et al., APL Mater. 1, 011002 (2013) - Materials Project</a:t>
            </a:r>
          </a:p>
          <a:p>
            <a:pPr algn="l">
              <a:spcAft>
                <a:spcPts val="0"/>
              </a:spcAft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[3] Sun &amp; Ceder, Surf. Sci. 617, 53 (2013) - Surface energies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2004000"/>
            <a:ext cx="43891200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32004000"/>
            <a:ext cx="43891200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32141160"/>
            <a:ext cx="2743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0" i="0">
                <a:solidFill>
                  <a:srgbClr val="FFDDDD"/>
                </a:solidFill>
                <a:latin typeface="Calibri"/>
              </a:defRPr>
            </a:pPr>
            <a:r>
              <a:t>GPSS Research Conference  |  Iowa State University  |  February 20, 2026</a:t>
            </a:r>
          </a:p>
          <a:p>
            <a:pPr algn="l">
              <a:spcAft>
                <a:spcPts val="600"/>
              </a:spcAft>
              <a:defRPr sz="1800" b="0" i="0">
                <a:solidFill>
                  <a:srgbClr val="EEAAAA"/>
                </a:solidFill>
                <a:latin typeface="Calibri"/>
              </a:defRPr>
            </a:pPr>
            <a:r>
              <a:t>Built with Python  |  pymatgen  |  PySide6  |  matplotlib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0" y="32141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2000" b="0" i="0">
                <a:solidFill>
                  <a:srgbClr val="FFDDDD"/>
                </a:solidFill>
                <a:latin typeface="Calibri"/>
              </a:defRPr>
            </a:pPr>
            <a:r>
              <a:t>github.com/shahab-afshar/SlabGen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