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91695" cy="635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0" y="365760"/>
            <a:ext cx="2560320" cy="11887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su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068" y="411480"/>
            <a:ext cx="1592183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914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5600" b="1" i="0">
                <a:solidFill>
                  <a:srgbClr val="F1BE48"/>
                </a:solidFill>
                <a:latin typeface="Calibri"/>
              </a:defRPr>
            </a:pPr>
            <a:r>
              <a:t>SlabGen</a:t>
            </a:r>
          </a:p>
          <a:p>
            <a:pPr algn="l">
              <a:spcAft>
                <a:spcPts val="20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An Interactive Platform for Automated Surface Slab</a:t>
            </a:r>
          </a:p>
          <a:p>
            <a:pPr algn="l">
              <a:spcAft>
                <a:spcPts val="0"/>
              </a:spcAft>
              <a:defRPr sz="3400" b="1" i="0">
                <a:solidFill>
                  <a:srgbClr val="FFFFFF"/>
                </a:solidFill>
                <a:latin typeface="Calibri"/>
              </a:defRPr>
            </a:pPr>
            <a:r>
              <a:t>Generation, Screening, and DFT Workflow Preparation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2400" b="1" i="0">
                <a:solidFill>
                  <a:srgbClr val="F1BE48"/>
                </a:solidFill>
                <a:latin typeface="Calibri"/>
              </a:defRPr>
            </a:pPr>
            <a:r>
              <a:t>Shahab Afshar  and  Zeinab Hajali Fard</a:t>
            </a:r>
          </a:p>
          <a:p>
            <a:pPr algn="l">
              <a:spcAft>
                <a:spcPts val="0"/>
              </a:spcAft>
              <a:defRPr sz="2000" b="0" i="0">
                <a:solidFill>
                  <a:srgbClr val="FFDDDD"/>
                </a:solidFill>
                <a:latin typeface="Calibri"/>
              </a:defRPr>
            </a:pPr>
            <a:r>
              <a:t>Iowa State University of Science and Technology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EEAAAA"/>
                </a:solidFill>
                <a:latin typeface="Calibri"/>
              </a:defRPr>
            </a:pPr>
            <a:r>
              <a:t>GPSS Research Conference  |  February 20,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2/12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800" b="1" i="0">
                <a:solidFill>
                  <a:srgbClr val="C8102E"/>
                </a:solidFill>
                <a:latin typeface="Calibri"/>
              </a:defRPr>
            </a:pPr>
            <a:r>
              <a:t>Why surface slab modeling matters</a:t>
            </a:r>
          </a:p>
          <a:p>
            <a:pPr algn="l">
              <a:spcAft>
                <a:spcPts val="800"/>
              </a:spcAft>
              <a:defRPr sz="2400" b="0" i="0">
                <a:solidFill>
                  <a:srgbClr val="1A1A1A"/>
                </a:solidFill>
                <a:latin typeface="Calibri"/>
              </a:defRPr>
            </a:pPr>
            <a:r>
              <a:t>•  Surface properties govern catalytic activity, corrosion resistance, and thin-film growth</a:t>
            </a:r>
          </a:p>
          <a:p>
            <a:pPr algn="l">
              <a:spcAft>
                <a:spcPts val="800"/>
              </a:spcAft>
              <a:defRPr sz="2400" b="0" i="0">
                <a:solidFill>
                  <a:srgbClr val="1A1A1A"/>
                </a:solidFill>
                <a:latin typeface="Calibri"/>
              </a:defRPr>
            </a:pPr>
            <a:r>
              <a:t>•  DFT slab calculations require careful construction: proper terminations, vacuum thickness, and dipole corrections</a:t>
            </a:r>
          </a:p>
          <a:p>
            <a:pPr algn="l">
              <a:spcAft>
                <a:spcPts val="800"/>
              </a:spcAft>
              <a:defRPr sz="2400" b="0" i="0">
                <a:solidFill>
                  <a:srgbClr val="1A1A1A"/>
                </a:solidFill>
                <a:latin typeface="Calibri"/>
              </a:defRPr>
            </a:pPr>
            <a:r>
              <a:t>•  Manual slab setup is tedious and error-prone -- systematic screening of multiple orientations is impractical by hand</a:t>
            </a:r>
          </a:p>
          <a:p>
            <a:pPr algn="l">
              <a:spcAft>
                <a:spcPts val="800"/>
              </a:spcAft>
              <a:defRPr sz="2400" b="0" i="0">
                <a:solidFill>
                  <a:srgbClr val="1A1A1A"/>
                </a:solidFill>
                <a:latin typeface="Calibri"/>
              </a:defRPr>
            </a:pPr>
            <a:r>
              <a:t>•  No existing tool integrates structure retrieval, slab generation, screening, and DFT input preparation in a single GUI</a:t>
            </a:r>
          </a:p>
          <a:p>
            <a:pPr algn="l">
              <a:spcAft>
                <a:spcPts val="2000"/>
              </a:spcAft>
              <a:defRPr sz="1000" b="0" i="0">
                <a:solidFill>
                  <a:srgbClr val="1A1A1A"/>
                </a:solidFill>
                <a:latin typeface="Calibri"/>
              </a:defRPr>
            </a:pPr>
          </a:p>
        </p:txBody>
      </p:sp>
      <p:sp>
        <p:nvSpPr>
          <p:cNvPr id="7" name="Rounded Rectangle 6"/>
          <p:cNvSpPr/>
          <p:nvPr/>
        </p:nvSpPr>
        <p:spPr>
          <a:xfrm>
            <a:off x="1371600" y="5303520"/>
            <a:ext cx="9144000" cy="822960"/>
          </a:xfrm>
          <a:prstGeom prst="roundRect">
            <a:avLst/>
          </a:prstGeom>
          <a:solidFill>
            <a:srgbClr val="FDF0F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0" y="5394960"/>
            <a:ext cx="8595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SlabGen automates the entire pipeline from bulk crystal to DFT-ready slab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058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1800" b="0" i="0">
                <a:solidFill>
                  <a:srgbClr val="FFDDDD"/>
                </a:solidFill>
                <a:latin typeface="Calibri"/>
              </a:defRPr>
            </a:pPr>
            <a:r>
              <a:t>Key concepts in computational surface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3/12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Surface Slab Model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Miller indices (h,k,l) define the crystallographic plane for cutting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Terminations: different atomic layers exposed at the surface (same orientation, different cuts)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Vacuum layer separates periodic slab images in DFT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Symmetric slabs avoid spurious dipole moments; asymmetric slabs need dipole correction</a:t>
            </a:r>
          </a:p>
          <a:p>
            <a:pPr algn="l">
              <a:spcAft>
                <a:spcPts val="12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DFT for Surfaces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Surface energy: γ = (E_slab - n×E_bulk) / (2A)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Wulff construction: equilibrium crystal shape from γ values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VASP inputs: INCAR (ISIF=2), KPOINTS (k_z=1), POSCAR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71600"/>
            <a:ext cx="5303520" cy="5029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1_bulk_stru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720" y="1554480"/>
            <a:ext cx="4423919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SlabGen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4/12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Technology Stack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Python + pymatgen (materials analysis)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PySide6 / Qt6 (cross-platform GUI)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matplotlib (embedded 3D visualization)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Materials Project API (structure database)</a:t>
            </a:r>
          </a:p>
          <a:p>
            <a:pPr algn="l">
              <a:spcAft>
                <a:spcPts val="16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Modular Design</a:t>
            </a:r>
          </a:p>
          <a:p>
            <a:pPr algn="l">
              <a:spcAft>
                <a:spcPts val="100"/>
              </a:spcAft>
              <a:defRPr sz="1800" b="1" i="0">
                <a:solidFill>
                  <a:srgbClr val="333333"/>
                </a:solidFill>
                <a:latin typeface="Consolas"/>
              </a:defRPr>
            </a:pPr>
            <a:r>
              <a:t>core/slab_generator.py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    Slab generation + oriented replication</a:t>
            </a:r>
          </a:p>
          <a:p>
            <a:pPr algn="l">
              <a:spcAft>
                <a:spcPts val="100"/>
              </a:spcAft>
              <a:defRPr sz="1800" b="1" i="0">
                <a:solidFill>
                  <a:srgbClr val="333333"/>
                </a:solidFill>
                <a:latin typeface="Consolas"/>
              </a:defRPr>
            </a:pPr>
            <a:r>
              <a:t>core/screening.py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    Batch Miller index screening</a:t>
            </a:r>
          </a:p>
          <a:p>
            <a:pPr algn="l">
              <a:spcAft>
                <a:spcPts val="100"/>
              </a:spcAft>
              <a:defRPr sz="1800" b="1" i="0">
                <a:solidFill>
                  <a:srgbClr val="333333"/>
                </a:solidFill>
                <a:latin typeface="Consolas"/>
              </a:defRPr>
            </a:pPr>
            <a:r>
              <a:t>core/dft_inputs.py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    VASP input file generation</a:t>
            </a:r>
          </a:p>
          <a:p>
            <a:pPr algn="l">
              <a:spcAft>
                <a:spcPts val="100"/>
              </a:spcAft>
              <a:defRPr sz="1800" b="1" i="0">
                <a:solidFill>
                  <a:srgbClr val="333333"/>
                </a:solidFill>
                <a:latin typeface="Consolas"/>
              </a:defRPr>
            </a:pPr>
            <a:r>
              <a:t>core/visualization.py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    3D structure plotting</a:t>
            </a:r>
          </a:p>
          <a:p>
            <a:pPr algn="l">
              <a:spcAft>
                <a:spcPts val="100"/>
              </a:spcAft>
              <a:defRPr sz="1800" b="1" i="0">
                <a:solidFill>
                  <a:srgbClr val="333333"/>
                </a:solidFill>
                <a:latin typeface="Consolas"/>
              </a:defRPr>
            </a:pPr>
            <a:r>
              <a:t>ui/main_window.py</a:t>
            </a:r>
          </a:p>
          <a:p>
            <a:pPr algn="l">
              <a:spcAft>
                <a:spcPts val="600"/>
              </a:spcAft>
              <a:defRPr sz="1800" b="0" i="0">
                <a:solidFill>
                  <a:srgbClr val="666666"/>
                </a:solidFill>
                <a:latin typeface="Calibri"/>
              </a:defRPr>
            </a:pPr>
            <a:r>
              <a:t>    Primary GUI with integrated viewer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5303520" cy="5029200"/>
          </a:xfrm>
          <a:prstGeom prst="round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initial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302002"/>
            <a:ext cx="4937760" cy="31683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Key Algorithm: oriented_slab_replication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5/12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Two-stage approach avoids atom-stretching artifacts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5029200" cy="1828800"/>
          </a:xfrm>
          <a:prstGeom prst="roundRect">
            <a:avLst/>
          </a:prstGeom>
          <a:solidFill>
            <a:srgbClr val="FDF0F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468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Stage 1: Orient</a:t>
            </a:r>
          </a:p>
          <a:p>
            <a:pPr algn="l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Rotate bulk crystal so target (h,k,l) plane aligns with the z-axis, then replicate along z to desired thickness.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377440"/>
            <a:ext cx="5029200" cy="1828800"/>
          </a:xfrm>
          <a:prstGeom prst="roundRect">
            <a:avLst/>
          </a:prstGeom>
          <a:solidFill>
            <a:srgbClr val="FDF0F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Stage 2: Generate</a:t>
            </a:r>
          </a:p>
          <a:p>
            <a:pPr algn="l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Apply SlabGenerator with (0,0,1) on oriented structure to add vacuum and enumerate all unique terminations.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926080"/>
            <a:ext cx="822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3600" b="0" i="0">
                <a:solidFill>
                  <a:srgbClr val="F1BE48"/>
                </a:solidFill>
                <a:latin typeface="Calibri"/>
              </a:defRPr>
            </a:pPr>
            <a:r>
              <a:t>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66344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2400" b="1" i="0">
                <a:solidFill>
                  <a:srgbClr val="333333"/>
                </a:solidFill>
                <a:latin typeface="Calibri"/>
              </a:defRPr>
            </a:pPr>
            <a:r>
              <a:t>Why two stages?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Direct SlabGenerator on arbitrary (h,k,l) can produce distorted atomic positions for complex unit cells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Pre-orienting + z-replication ensures physical atom spacing is preserved before vacuum is applied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Enables correct slab models for any crystal system (cubic, orthorhombic, hexagonal, 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Demo: Structure Retrieval from Materials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6/12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Search &amp; Select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1.   Enter chemical formula (Mo₂C)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2.   Query Materials Project API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3.   Browse results: ID, space group, crystal system, atoms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4.   Select structure to load into 3D viewer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Selected: mp-1552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Alpha-Mo₂C (Pbcn, orthorhombic)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12 atoms per unit cell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Ground-state polymorph (E_hull = 0)</a:t>
            </a:r>
          </a:p>
        </p:txBody>
      </p:sp>
      <p:pic>
        <p:nvPicPr>
          <p:cNvPr id="7" name="Picture 6" descr="04_structure_sel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682496"/>
            <a:ext cx="6583680" cy="42245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Demo: Slab Generation -- Mo₂C (1,1,1)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7/12</a:t>
            </a:r>
          </a:p>
        </p:txBody>
      </p:sp>
      <p:pic>
        <p:nvPicPr>
          <p:cNvPr id="6" name="Picture 5" descr="06_slab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97914"/>
            <a:ext cx="7132320" cy="4576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Parameters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Miller indices: (1, 1, 1)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Z repetitions: 3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Vacuum: 15 Å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All terminations: enabled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Results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6 unique terminations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36 atoms per slab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49.20 Å² surface area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2 symmetric + 4 asymmetric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Demo: Slab Inspection &amp; 3D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8/12</a:t>
            </a:r>
          </a:p>
        </p:txBody>
      </p:sp>
      <p:pic>
        <p:nvPicPr>
          <p:cNvPr id="6" name="Picture 5" descr="06_slabs_gener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97914"/>
            <a:ext cx="7132320" cy="45765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371600"/>
            <a:ext cx="3931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Slab Properties</a:t>
            </a:r>
          </a:p>
          <a:p>
            <a:pPr algn="l">
              <a:spcAft>
                <a:spcPts val="6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Formula:  Mo₂C</a:t>
            </a:r>
          </a:p>
          <a:p>
            <a:pPr algn="l">
              <a:spcAft>
                <a:spcPts val="6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Atoms:  36</a:t>
            </a:r>
          </a:p>
          <a:p>
            <a:pPr algn="l">
              <a:spcAft>
                <a:spcPts val="6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Surface area:  49.20 Å²</a:t>
            </a:r>
          </a:p>
          <a:p>
            <a:pPr algn="l">
              <a:spcAft>
                <a:spcPts val="6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Slab thickness:  16.59 Å</a:t>
            </a:r>
          </a:p>
          <a:p>
            <a:pPr algn="l">
              <a:spcAft>
                <a:spcPts val="6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Symmetric:  Yes (shift 0.0)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2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3D Viewer Features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Interactive rotation and zoom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Jmol color scheme (element-based)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Lattice box with axis labels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Updates on slab selection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Demo: Systematic Surface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9/12</a:t>
            </a:r>
          </a:p>
        </p:txBody>
      </p:sp>
      <p:pic>
        <p:nvPicPr>
          <p:cNvPr id="6" name="Picture 5" descr="09_screening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91640"/>
            <a:ext cx="6583680" cy="43891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1371600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Batch Screening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All symmetrically distinct Miller indices up to max index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Runs in background thread (GUI stays responsive)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Progress bar with live updates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Mo₂C Results (max index 1)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7 surface orientations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20 unique terminations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Color-coded: green = symmetric, yellow = asymmetric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Export Options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CSV table export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Batch POSCAR export (all slabs)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Load any slab into main viewer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Screening Results: Mo₂C Surface Characterization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10/12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10881360" cy="4572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Surface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6459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Terminations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645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Area (Å²)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1645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Symmetric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645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FFFFFF"/>
                </a:solidFill>
                <a:latin typeface="Calibri"/>
              </a:defRPr>
            </a:pPr>
            <a:r>
              <a:t>Asymmetric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103120"/>
            <a:ext cx="108813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031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(0,0,1)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031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24.63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103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0" y="2103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56032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5603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(0,1,0)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25603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2560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28.62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560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2560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017520"/>
            <a:ext cx="108813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0175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(1,0,0)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30175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3017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31.53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3017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3017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347472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34747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(0,1,1)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34747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4747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37.76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4747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4747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3931920"/>
            <a:ext cx="108813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" y="39319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(1,0,1)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39319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3931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40.01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040880" y="3931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80" y="39319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" y="4389120"/>
            <a:ext cx="108813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31520" y="43891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(1,1,0)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743200" y="43891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754880" y="4389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42.58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4389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43891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31520" y="4846320"/>
            <a:ext cx="10881360" cy="45720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31520" y="48463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333333"/>
                </a:solidFill>
                <a:latin typeface="Calibri"/>
              </a:defRPr>
            </a:pPr>
            <a:r>
              <a:t>(1,1,1)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743200" y="48463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754880" y="4846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333333"/>
                </a:solidFill>
                <a:latin typeface="Calibri"/>
              </a:defRPr>
            </a:pPr>
            <a:r>
              <a:t>49.20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40880" y="4846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1B7A2B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26880" y="48463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0" i="0">
                <a:solidFill>
                  <a:srgbClr val="B8860B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31520" y="5303520"/>
            <a:ext cx="10881360" cy="457200"/>
          </a:xfrm>
          <a:prstGeom prst="rect">
            <a:avLst/>
          </a:prstGeom>
          <a:solidFill>
            <a:srgbClr val="FDF0F2"/>
          </a:solidFill>
          <a:ln w="12700">
            <a:solidFill>
              <a:srgbClr val="C810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3035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C8102E"/>
                </a:solidFill>
                <a:latin typeface="Calibri"/>
              </a:defRPr>
            </a:pPr>
            <a:r>
              <a:t>Total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743200" y="5303520"/>
            <a:ext cx="201168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C8102E"/>
                </a:solidFill>
                <a:latin typeface="Calibri"/>
              </a:defRPr>
            </a:pPr>
            <a:r>
              <a:t>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754880" y="5303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C8102E"/>
                </a:solidFill>
                <a:latin typeface="Calibri"/>
              </a:defRPr>
            </a:pPr>
            <a:r>
              <a:t>--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5303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C8102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5303520"/>
            <a:ext cx="22860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spcAft>
                <a:spcPts val="0"/>
              </a:spcAft>
              <a:defRPr sz="2000" b="1" i="0">
                <a:solidFill>
                  <a:srgbClr val="C8102E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31520" y="59436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Structure: alpha-Mo₂C (mp-1552, Pbcn, orthorhombic, 12 atoms)   |   Max Miller index: 1   |   Z reps: 3   |   Vacuum: 15 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Mo₂C Surface Gallery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11/12</a:t>
            </a:r>
          </a:p>
        </p:txBody>
      </p:sp>
      <p:pic>
        <p:nvPicPr>
          <p:cNvPr id="6" name="Picture 5" descr="03_surface_scree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4375" y="1280160"/>
            <a:ext cx="509276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Demo: DFT Input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12/12</a:t>
            </a:r>
          </a:p>
        </p:txBody>
      </p:sp>
      <p:pic>
        <p:nvPicPr>
          <p:cNvPr id="6" name="Picture 5" descr="10_dft_dialo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48245"/>
            <a:ext cx="5486400" cy="467590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17920" y="137160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600" b="1" i="0">
                <a:solidFill>
                  <a:srgbClr val="C8102E"/>
                </a:solidFill>
                <a:latin typeface="Calibri"/>
              </a:defRPr>
            </a:pPr>
            <a:r>
              <a:t>Generated VASP Inputs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INCAR with slab-optimized settings (ISIF=2, ISMEAR=0)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Auto dipole correction (LDIPOL, IDIPOL=3, DIPOL from COM)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KPOINTS with k_z = 1 for slab geometry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POSCAR + POTCAR.spec</a:t>
            </a:r>
          </a:p>
          <a:p>
            <a:pPr algn="l">
              <a:spcAft>
                <a:spcPts val="800"/>
              </a:spcAft>
              <a:defRPr sz="2100" b="0" i="0">
                <a:solidFill>
                  <a:srgbClr val="1A1A1A"/>
                </a:solidFill>
                <a:latin typeface="Calibri"/>
              </a:defRPr>
            </a:pPr>
            <a:r>
              <a:t>•  SLURM job submission script</a:t>
            </a:r>
          </a:p>
          <a:p>
            <a:pPr algn="l">
              <a:spcAft>
                <a:spcPts val="1400"/>
              </a:spcAft>
              <a:defRPr sz="8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1000"/>
              </a:spcAft>
              <a:defRPr sz="2400" b="1" i="0">
                <a:solidFill>
                  <a:srgbClr val="C8102E"/>
                </a:solidFill>
                <a:latin typeface="Calibri"/>
              </a:defRPr>
            </a:pPr>
            <a:r>
              <a:t>Advanced Options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Selective dynamics: freeze bottom N layers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Adjustable ENCUT, k-density, EDIFFG</a:t>
            </a:r>
          </a:p>
          <a:p>
            <a:pPr algn="l">
              <a:spcAft>
                <a:spcPts val="800"/>
              </a:spcAft>
              <a:defRPr sz="2000" b="0" i="0">
                <a:solidFill>
                  <a:srgbClr val="1A1A1A"/>
                </a:solidFill>
                <a:latin typeface="Calibri"/>
              </a:defRPr>
            </a:pPr>
            <a:r>
              <a:t>•  Live INCAR and KPOINTS preview tabs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0800"/>
          </a:xfrm>
          <a:prstGeom prst="rect">
            <a:avLst/>
          </a:prstGeom>
          <a:solidFill>
            <a:srgbClr val="F1BE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"/>
            <a:ext cx="100584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0"/>
              </a:spcAft>
              <a:defRPr sz="3200" b="1" i="0">
                <a:solidFill>
                  <a:srgbClr val="FFFFFF"/>
                </a:solidFill>
                <a:latin typeface="Calibri"/>
              </a:defRPr>
            </a:pPr>
            <a:r>
              <a:t>Conclusions &amp; Future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spcAft>
                <a:spcPts val="0"/>
              </a:spcAft>
              <a:defRPr sz="1200" b="0" i="0">
                <a:solidFill>
                  <a:srgbClr val="666666"/>
                </a:solidFill>
                <a:latin typeface="Calibri"/>
              </a:defRPr>
            </a:pPr>
            <a:r>
              <a:t>13/13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800" b="1" i="0">
                <a:solidFill>
                  <a:srgbClr val="C8102E"/>
                </a:solidFill>
                <a:latin typeface="Calibri"/>
              </a:defRPr>
            </a:pPr>
            <a:r>
              <a:t>Conclusions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SlabGen provides an integrated workflow from bulk crystal to DFT-ready slab models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Systematic screening enables rapid surface exploration with symmetry classification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Mo₂C case study: 20 terminations across 7 surfaces characterized in seconds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Open-source, cross-platform (Python + PySide6)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  <a:defRPr sz="2800" b="1" i="0">
                <a:solidFill>
                  <a:srgbClr val="C8102E"/>
                </a:solidFill>
                <a:latin typeface="Calibri"/>
              </a:defRPr>
            </a:pPr>
            <a:r>
              <a:t>Future Directions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DFT surface energy calculations and Wulff construction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Automated convergence testing workflows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Adsorbate placement on generated surfaces</a:t>
            </a:r>
          </a:p>
          <a:p>
            <a:pPr algn="l">
              <a:spcAft>
                <a:spcPts val="800"/>
              </a:spcAft>
              <a:defRPr sz="2200" b="0" i="0">
                <a:solidFill>
                  <a:srgbClr val="1A1A1A"/>
                </a:solidFill>
                <a:latin typeface="Calibri"/>
              </a:defRPr>
            </a:pPr>
            <a:r>
              <a:t>•  Support for heterostructure interface modeling</a:t>
            </a:r>
          </a:p>
          <a:p>
            <a:pPr algn="l">
              <a:spcAft>
                <a:spcPts val="2000"/>
              </a:spcAft>
              <a:defRPr sz="10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Aft>
                <a:spcPts val="800"/>
              </a:spcAft>
              <a:defRPr sz="2200" b="1" i="0">
                <a:solidFill>
                  <a:srgbClr val="333333"/>
                </a:solidFill>
                <a:latin typeface="Calibri"/>
              </a:defRPr>
            </a:pPr>
            <a:r>
              <a:t>References</a:t>
            </a:r>
          </a:p>
          <a:p>
            <a:pPr algn="l">
              <a:spcAft>
                <a:spcPts val="20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[1] Ong et al., Comp. Mater. Sci. 68, 314 (2013)</a:t>
            </a:r>
          </a:p>
          <a:p>
            <a:pPr algn="l">
              <a:spcAft>
                <a:spcPts val="20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[2] Jain et al., APL Mater. 1, 011002 (2013)</a:t>
            </a:r>
          </a:p>
          <a:p>
            <a:pPr algn="l">
              <a:spcAft>
                <a:spcPts val="0"/>
              </a:spcAft>
              <a:defRPr sz="1600" b="0" i="0">
                <a:solidFill>
                  <a:srgbClr val="666666"/>
                </a:solidFill>
                <a:latin typeface="Calibri"/>
              </a:defRPr>
            </a:pPr>
            <a:r>
              <a:t>[3] Sun &amp; Ceder, Surf. Sci. 617, 53 (2013)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5760720"/>
            <a:ext cx="9144000" cy="731520"/>
          </a:xfrm>
          <a:prstGeom prst="round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5806440"/>
            <a:ext cx="9144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0"/>
              </a:spcAft>
              <a:defRPr sz="2600" b="1" i="0">
                <a:solidFill>
                  <a:srgbClr val="F1BE48"/>
                </a:solidFill>
                <a:latin typeface="Calibri"/>
              </a:defRPr>
            </a:pPr>
            <a:r>
              <a:t>Thank you!   |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